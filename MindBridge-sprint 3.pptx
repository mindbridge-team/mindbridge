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2D7A8F"/>
                </a:solidFill>
              </a:defRPr>
            </a:pPr>
            <a:r>
              <a:t>MindBridge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0">
                <a:solidFill>
                  <a:srgbClr val="475569"/>
                </a:solidFill>
              </a:defRPr>
            </a:pPr>
            <a:r>
              <a:t>Where we are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</a:defRPr>
            </a:pPr>
            <a:r>
              <a:t>March 2026  ·  Abhi · Umer · Abel</a:t>
            </a:r>
            <a:br/>
            <a:r>
              <a:t>A friendly update for everyone who read our proposal and pitch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43484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12700">
            <a:solidFill>
              <a:srgbClr val="2D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500" b="1">
                <a:solidFill>
                  <a:srgbClr val="2D7A8F"/>
                </a:solidFill>
              </a:defRPr>
            </a:pPr>
            <a:r>
              <a:t>Mood · Resources · Counselling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One place to check in and get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Project status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4E9F0"/>
                </a:solidFill>
              </a:defRPr>
            </a:pPr>
            <a:r>
              <a:t>Three things MindBridge is built around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515258" cy="201168"/>
          </a:xfrm>
          <a:prstGeom prst="rect">
            <a:avLst/>
          </a:prstGeom>
          <a:solidFill>
            <a:srgbClr val="4D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90472"/>
            <a:ext cx="3515258" cy="2761488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19050">
            <a:solidFill>
              <a:srgbClr val="4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20040"/>
          <a:lstStyle/>
          <a:p>
            <a:pPr algn="ctr">
              <a:defRPr sz="2200" b="1">
                <a:solidFill>
                  <a:srgbClr val="2D7A8F"/>
                </a:solidFill>
              </a:defRPr>
            </a:pPr>
            <a:r>
              <a:t>Mood care</a:t>
            </a:r>
          </a:p>
          <a:p>
            <a:pPr>
              <a:spcBef>
                <a:spcPts val="1000"/>
              </a:spcBef>
              <a:defRPr sz="1500">
                <a:solidFill>
                  <a:srgbClr val="475569"/>
                </a:solidFill>
              </a:defRPr>
            </a:pPr>
            <a:r>
              <a:t>Quick check-ins, notes, and a simple view of how you’ve been feeling.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1325880"/>
            <a:ext cx="3515258" cy="201168"/>
          </a:xfrm>
          <a:prstGeom prst="rect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8218" y="1490472"/>
            <a:ext cx="3515258" cy="2761488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19050">
            <a:solidFill>
              <a:srgbClr val="2D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20040"/>
          <a:lstStyle/>
          <a:p>
            <a:pPr algn="ctr">
              <a:defRPr sz="2200" b="1">
                <a:solidFill>
                  <a:srgbClr val="2D7A8F"/>
                </a:solidFill>
              </a:defRPr>
            </a:pPr>
            <a:r>
              <a:t>Wellness resources</a:t>
            </a:r>
          </a:p>
          <a:p>
            <a:pPr>
              <a:spcBef>
                <a:spcPts val="1000"/>
              </a:spcBef>
              <a:defRPr sz="1500">
                <a:solidFill>
                  <a:srgbClr val="475569"/>
                </a:solidFill>
              </a:defRPr>
            </a:pPr>
            <a:r>
              <a:t>Articles, exercises, and tools in one calm library.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73516" y="1325880"/>
            <a:ext cx="3515258" cy="201168"/>
          </a:xfrm>
          <a:prstGeom prst="rect">
            <a:avLst/>
          </a:prstGeom>
          <a:solidFill>
            <a:srgbClr val="3A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73516" y="1490472"/>
            <a:ext cx="3515258" cy="2761488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19050">
            <a:solidFill>
              <a:srgbClr val="3A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20040"/>
          <a:lstStyle/>
          <a:p>
            <a:pPr algn="ctr">
              <a:defRPr sz="2200" b="1">
                <a:solidFill>
                  <a:srgbClr val="2D7A8F"/>
                </a:solidFill>
              </a:defRPr>
            </a:pPr>
            <a:r>
              <a:t>Human support</a:t>
            </a:r>
          </a:p>
          <a:p>
            <a:pPr>
              <a:spcBef>
                <a:spcPts val="1000"/>
              </a:spcBef>
              <a:defRPr sz="1500">
                <a:solidFill>
                  <a:srgbClr val="475569"/>
                </a:solidFill>
              </a:defRPr>
            </a:pPr>
            <a:r>
              <a:t>See counsellors, book a time, and keep track of sessions.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7200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</a:defRPr>
            </a:pPr>
            <a:r>
              <a:t>How much of the full vision is live today?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983480"/>
            <a:ext cx="11185855" cy="3474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4983480"/>
            <a:ext cx="8053815" cy="347472"/>
          </a:xfrm>
          <a:prstGeom prst="roundRect">
            <a:avLst>
              <a:gd name="adj" fmla="val 50000"/>
            </a:avLst>
          </a:prstGeom>
          <a:solidFill>
            <a:srgbClr val="4D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08615" y="472744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D7A8F"/>
                </a:solidFill>
              </a:defRPr>
            </a:pPr>
            <a:r>
              <a:t>~70%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Live in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4E9F0"/>
                </a:solidFill>
              </a:defRPr>
            </a:pPr>
            <a:r>
              <a:t>What already works for users today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30759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234440"/>
            <a:ext cx="10865815" cy="7772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500">
                <a:solidFill>
                  <a:srgbClr val="1E293B"/>
                </a:solidFill>
              </a:defRPr>
            </a:pPr>
            <a:r>
              <a:t>Secure sign-up and sign-in; patients and counsellors each see what fits their role.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203704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130552"/>
            <a:ext cx="10865815" cy="7772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500">
                <a:solidFill>
                  <a:srgbClr val="1E293B"/>
                </a:solidFill>
              </a:defRPr>
            </a:pPr>
            <a:r>
              <a:t>Mood logging with notes, history, and a simple dashboard view.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09981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026664"/>
            <a:ext cx="10865815" cy="7772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500">
                <a:solidFill>
                  <a:srgbClr val="1E293B"/>
                </a:solidFill>
              </a:defRPr>
            </a:pPr>
            <a:r>
              <a:t>A wellness resource hub—content in one organized place.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995928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922776"/>
            <a:ext cx="10865815" cy="7772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500">
                <a:solidFill>
                  <a:srgbClr val="1E293B"/>
                </a:solidFill>
              </a:defRPr>
            </a:pPr>
            <a:r>
              <a:t>Browse counsellors, pick a slot, book a session, see upcoming and past visits.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89204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818888"/>
            <a:ext cx="10865815" cy="7772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500">
                <a:solidFill>
                  <a:srgbClr val="1E293B"/>
                </a:solidFill>
              </a:defRPr>
            </a:pPr>
            <a:r>
              <a:t>Counsellors can review sessions and mark progress (e.g. accepted, completed).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Still on the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4E9F0"/>
                </a:solidFill>
              </a:defRPr>
            </a:pPr>
            <a:r>
              <a:t>Honest gaps — no jargon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1140135" cy="80467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defRPr sz="1500">
                <a:solidFill>
                  <a:srgbClr val="1E293B"/>
                </a:solidFill>
              </a:defRPr>
            </a:pPr>
            <a:r>
              <a:t>Chat button opens a panel, but the live assistant isn’t hooked up there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109728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11140135" cy="80467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defRPr sz="1500">
                <a:solidFill>
                  <a:srgbClr val="1E293B"/>
                </a:solidFill>
              </a:defRPr>
            </a:pPr>
            <a:r>
              <a:t>Community and profile areas show “coming soon.”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63240"/>
            <a:ext cx="109728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063240"/>
            <a:ext cx="11140135" cy="80467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defRPr sz="1500">
                <a:solidFill>
                  <a:srgbClr val="1E293B"/>
                </a:solidFill>
              </a:defRPr>
            </a:pPr>
            <a:r>
              <a:t>No automatic reminders by email or text before appointments.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977640"/>
            <a:ext cx="109728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977640"/>
            <a:ext cx="11140135" cy="80467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defRPr sz="1500">
                <a:solidFill>
                  <a:srgbClr val="1E293B"/>
                </a:solidFill>
              </a:defRPr>
            </a:pPr>
            <a:r>
              <a:t>Patients can’t reschedule or cancel inside the app yet; no built-in video links.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92040"/>
            <a:ext cx="109728" cy="8046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4892040"/>
            <a:ext cx="11140135" cy="80467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defRPr sz="1500">
                <a:solidFill>
                  <a:srgbClr val="1E293B"/>
                </a:solidFill>
              </a:defRPr>
            </a:pPr>
            <a:r>
              <a:t>We still don’t diagnose, prescribe, handle insurance, or replace emergency services — on purpose.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Compared to our early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4E9F0"/>
                </a:solidFill>
              </a:defRPr>
            </a:pPr>
            <a:r>
              <a:t>What we said vs. what you see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10047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DB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320040"/>
          <a:lstStyle/>
          <a:p>
            <a:pPr algn="ctr">
              <a:defRPr sz="2600" b="1">
                <a:solidFill>
                  <a:srgbClr val="2D7A8F"/>
                </a:solidFill>
              </a:defRPr>
            </a:pPr>
            <a:r>
              <a:t>Mostly matches</a:t>
            </a:r>
          </a:p>
          <a:p>
            <a:pPr>
              <a:spcBef>
                <a:spcPts val="1400"/>
              </a:spcBef>
              <a:defRPr sz="1600">
                <a:solidFill>
                  <a:srgbClr val="475569"/>
                </a:solidFill>
              </a:defRPr>
            </a:pPr>
            <a:r>
              <a:t>The core idea is alive: mood care, resources, and real counsellor booking.</a:t>
            </a:r>
          </a:p>
          <a:p>
            <a:pPr>
              <a:spcBef>
                <a:spcPts val="1400"/>
              </a:spcBef>
              <a:defRPr sz="1600">
                <a:solidFill>
                  <a:srgbClr val="475569"/>
                </a:solidFill>
              </a:defRPr>
            </a:pPr>
            <a:r>
              <a:t>Safety boundaries are unchanged—we connect and guide, not replace crisis or clinical care.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234440"/>
            <a:ext cx="5410047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320040"/>
          <a:lstStyle/>
          <a:p>
            <a:pPr algn="ctr">
              <a:defRPr sz="2600" b="1">
                <a:solidFill>
                  <a:srgbClr val="D97706"/>
                </a:solidFill>
              </a:defRPr>
            </a:pPr>
            <a:r>
              <a:t>Needs more time</a:t>
            </a:r>
          </a:p>
          <a:p>
            <a:pPr>
              <a:spcBef>
                <a:spcPts val="1400"/>
              </a:spcBef>
              <a:defRPr sz="1600">
                <a:solidFill>
                  <a:srgbClr val="475569"/>
                </a:solidFill>
              </a:defRPr>
            </a:pPr>
            <a:r>
              <a:t>Groups, deep moderation, and rich analytics for schools or clinics.</a:t>
            </a:r>
          </a:p>
          <a:p>
            <a:pPr>
              <a:spcBef>
                <a:spcPts val="1400"/>
              </a:spcBef>
              <a:defRPr sz="1600">
                <a:solidFill>
                  <a:srgbClr val="475569"/>
                </a:solidFill>
              </a:defRPr>
            </a:pPr>
            <a:r>
              <a:t>Extras like saved chat history everywhere we described.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How the semester-style plan lines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4E9F0"/>
                </a:solidFill>
              </a:defRPr>
            </a:pPr>
            <a:r>
              <a:t>Four phases, plain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2579293" cy="2331720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12700">
            <a:solidFill>
              <a:srgbClr val="2D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>
              <a:spcBef>
                <a:spcPts val="3600"/>
              </a:spcBef>
              <a:defRPr sz="1700" b="1">
                <a:solidFill>
                  <a:srgbClr val="2D7A8F"/>
                </a:solidFill>
              </a:defRPr>
            </a:pPr>
            <a:r>
              <a:t>Discover &amp; plan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Research, privacy, and requirements — captured in our proposal.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1801368"/>
            <a:ext cx="384048" cy="384048"/>
          </a:xfrm>
          <a:prstGeom prst="ellipse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4781" y="2606040"/>
            <a:ext cx="292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4DB8A8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6533" y="1691640"/>
            <a:ext cx="2579293" cy="2331720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12700">
            <a:solidFill>
              <a:srgbClr val="2D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>
              <a:spcBef>
                <a:spcPts val="3600"/>
              </a:spcBef>
              <a:defRPr sz="1700" b="1">
                <a:solidFill>
                  <a:srgbClr val="2D7A8F"/>
                </a:solidFill>
              </a:defRPr>
            </a:pPr>
            <a:r>
              <a:t>Build the foundation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Accounts, screens, and main journeys — largely what you can click today.</a:t>
            </a:r>
          </a:p>
        </p:txBody>
      </p:sp>
      <p:sp>
        <p:nvSpPr>
          <p:cNvPr id="10" name="Oval 9"/>
          <p:cNvSpPr/>
          <p:nvPr/>
        </p:nvSpPr>
        <p:spPr>
          <a:xfrm>
            <a:off x="3466261" y="1801368"/>
            <a:ext cx="384048" cy="384048"/>
          </a:xfrm>
          <a:prstGeom prst="ellipse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4115" y="2606040"/>
            <a:ext cx="292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4DB8A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7" y="1691640"/>
            <a:ext cx="2579293" cy="2331720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12700">
            <a:solidFill>
              <a:srgbClr val="2D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>
              <a:spcBef>
                <a:spcPts val="3600"/>
              </a:spcBef>
              <a:defRPr sz="1700" b="1">
                <a:solidFill>
                  <a:srgbClr val="2D7A8F"/>
                </a:solidFill>
              </a:defRPr>
            </a:pPr>
            <a:r>
              <a:t>Grow the features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Mood, resources, and scheduling feel strong; assistant &amp; community still catching up.</a:t>
            </a:r>
          </a:p>
        </p:txBody>
      </p:sp>
      <p:sp>
        <p:nvSpPr>
          <p:cNvPr id="13" name="Oval 12"/>
          <p:cNvSpPr/>
          <p:nvPr/>
        </p:nvSpPr>
        <p:spPr>
          <a:xfrm>
            <a:off x="6365595" y="1801368"/>
            <a:ext cx="384048" cy="384048"/>
          </a:xfrm>
          <a:prstGeom prst="ellipse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3449" y="2606040"/>
            <a:ext cx="292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4DB8A8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55201" y="1691640"/>
            <a:ext cx="2579293" cy="233172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2D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0"/>
          <a:lstStyle/>
          <a:p>
            <a:pPr algn="ctr">
              <a:spcBef>
                <a:spcPts val="3600"/>
              </a:spcBef>
              <a:defRPr sz="1700" b="1">
                <a:solidFill>
                  <a:srgbClr val="2D7A8F"/>
                </a:solidFill>
              </a:defRPr>
            </a:pPr>
            <a:r>
              <a:t>Polish &amp; ship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Testing, accessibility, stable demo — next focus.</a:t>
            </a:r>
          </a:p>
        </p:txBody>
      </p:sp>
      <p:sp>
        <p:nvSpPr>
          <p:cNvPr id="16" name="Oval 15"/>
          <p:cNvSpPr/>
          <p:nvPr/>
        </p:nvSpPr>
        <p:spPr>
          <a:xfrm>
            <a:off x="9264929" y="1801368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What we’re tackling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858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4E9F0"/>
                </a:solidFill>
              </a:defRPr>
            </a:pPr>
            <a:r>
              <a:t>Near-term priorities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261872"/>
            <a:ext cx="10591495" cy="713232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9525">
            <a:solidFill>
              <a:srgbClr val="2D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>
                <a:solidFill>
                  <a:srgbClr val="1E293B"/>
                </a:solidFill>
              </a:defRPr>
            </a:pPr>
            <a:r>
              <a:t>Connect the in-app chat so answers feel real and helpful.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221992"/>
            <a:ext cx="10591495" cy="713232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9525">
            <a:solidFill>
              <a:srgbClr val="2D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>
                <a:solidFill>
                  <a:srgbClr val="1E293B"/>
                </a:solidFill>
              </a:defRPr>
            </a:pPr>
            <a:r>
              <a:t>Let people change or cancel bookings, then add gentle reminders.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182112"/>
            <a:ext cx="10591495" cy="713232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9525">
            <a:solidFill>
              <a:srgbClr val="2D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>
                <a:solidFill>
                  <a:srgbClr val="1E293B"/>
                </a:solidFill>
              </a:defRPr>
            </a:pPr>
            <a:r>
              <a:t>Choose: a small community slice, or double down on polish for demos.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142232"/>
            <a:ext cx="10591495" cy="713232"/>
          </a:xfrm>
          <a:prstGeom prst="roundRect">
            <a:avLst>
              <a:gd name="adj" fmla="val 8000"/>
            </a:avLst>
          </a:prstGeom>
          <a:solidFill>
            <a:srgbClr val="E8F4F7"/>
          </a:solidFill>
          <a:ln w="9525">
            <a:solidFill>
              <a:srgbClr val="2D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700">
                <a:solidFill>
                  <a:srgbClr val="1E293B"/>
                </a:solidFill>
              </a:defRPr>
            </a:pPr>
            <a:r>
              <a:t>Smooth the whole experience: wording, flow, and reliability for real users.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06440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Long-form detail: Group 4 Project Proposal · MindBridge pitch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200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D4E9F0"/>
                </a:solidFill>
              </a:defRPr>
            </a:pPr>
            <a:r>
              <a:t>Questions &amp; feedback welcome</a:t>
            </a:r>
          </a:p>
        </p:txBody>
      </p:sp>
      <p:sp>
        <p:nvSpPr>
          <p:cNvPr id="5" name="Heart 4"/>
          <p:cNvSpPr/>
          <p:nvPr/>
        </p:nvSpPr>
        <p:spPr>
          <a:xfrm>
            <a:off x="5775807" y="3977639"/>
            <a:ext cx="640080" cy="594360"/>
          </a:xfrm>
          <a:prstGeom prst="heart">
            <a:avLst/>
          </a:prstGeom>
          <a:solidFill>
            <a:srgbClr val="4D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